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737360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ungeon.png"/>
          <p:cNvPicPr>
            <a:picLocks noChangeAspect="1"/>
          </p:cNvPicPr>
          <p:nvPr/>
        </p:nvPicPr>
        <p:blipFill>
          <a:blip r:embed="rId2"/>
          <a:srcRect r="27000"/>
          <a:stretch>
            <a:fillRect/>
          </a:stretch>
        </p:blipFill>
        <p:spPr>
          <a:xfrm>
            <a:off x="6537960" y="1237028"/>
            <a:ext cx="5074920" cy="4383944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6537960" y="1237028"/>
            <a:ext cx="5074920" cy="4383944"/>
          </a:xfrm>
          <a:prstGeom prst="rect">
            <a:avLst/>
          </a:prstGeom>
          <a:noFill/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5650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1층 플레이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AI2000 · 자료구조및알고리즘 · 팀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Dungeon</a:t>
            </a:r>
          </a:p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Crawler RPG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3703320"/>
            <a:ext cx="1828800" cy="0"/>
          </a:xfrm>
          <a:prstGeom prst="bentConnector3">
            <a:avLst/>
          </a:prstGeom>
          <a:ln w="27940">
            <a:solidFill>
              <a:srgbClr val="BE5F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3931920"/>
            <a:ext cx="5577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절차적으로 생성되는 5층 던전을 도는 </a:t>
            </a:r>
            <a:r>
              <a:rPr sz="15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턴제 로그라이크</a:t>
            </a:r>
            <a:r>
              <a:rPr sz="15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수업이 요구한 6개 핵심 자료구조·알고리즘을 게임 기능으로 녹였습니다.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97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Run it.  </a:t>
            </a:r>
            <a:r>
              <a:rPr sz="13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Defend it.  </a:t>
            </a: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Compare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OVERVIEW · 게임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어떤 게임인가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02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10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한 줄 소개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0312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절차적으로 만들어지는 5층 던전을 돌며 적을 잡고, </a:t>
            </a:r>
            <a:r>
              <a:rPr sz="14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5층 보스를 처치해 탈출</a:t>
            </a:r>
            <a:r>
              <a:rPr sz="14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하는 입력 구동 턴제 로그라이크.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01752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게임 루프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346704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34670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탐험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346704"/>
            <a:ext cx="2377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19072" y="3346704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34670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전투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3346704"/>
            <a:ext cx="2377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96896" y="3346704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96896" y="3346704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아이템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3346704"/>
            <a:ext cx="2377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3346704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334670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이동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346704"/>
            <a:ext cx="2377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9704" y="3346704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334670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보스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3346704"/>
            <a:ext cx="2377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67528" y="3346704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67528" y="3346704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리더보드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133087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승리 · 패배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443984"/>
            <a:ext cx="5623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6888" indent="-246888">
              <a:lnSpc>
                <a:spcPct val="120000"/>
              </a:lnSpc>
              <a:spcAft>
                <a:spcPts val="8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승리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: 5층 보스를 잡으면 출구가 열리고, 출구 칸에 닿으면 클리어.</a:t>
            </a:r>
          </a:p>
          <a:p>
            <a:pPr marL="246888" indent="-246888">
              <a:lnSpc>
                <a:spcPct val="120000"/>
              </a:lnSpc>
              <a:spcAft>
                <a:spcPts val="8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패배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: 적 턴까지 끝난 뒤 HP가 0이면 프레임 status="dead". Undo로 못 살아남.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조작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925312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WASD 이동  ·  좌클릭 공격  ·  U 되돌리기  ·  1~0 아이템  ·  R 재시작</a:t>
            </a:r>
          </a:p>
        </p:txBody>
      </p:sp>
      <p:pic>
        <p:nvPicPr>
          <p:cNvPr id="34" name="Picture 33" descr="overview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20840" y="2474871"/>
            <a:ext cx="4617720" cy="2914095"/>
          </a:xfrm>
          <a:prstGeom prst="rect">
            <a:avLst/>
          </a:prstGeom>
          <a:effectLst/>
        </p:spPr>
      </p:pic>
      <p:sp>
        <p:nvSpPr>
          <p:cNvPr id="35" name="Rectangle 34"/>
          <p:cNvSpPr/>
          <p:nvPr/>
        </p:nvSpPr>
        <p:spPr>
          <a:xfrm>
            <a:off x="6720840" y="2474871"/>
            <a:ext cx="4617720" cy="2914095"/>
          </a:xfrm>
          <a:prstGeom prst="rect">
            <a:avLst/>
          </a:prstGeom>
          <a:noFill/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57424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2층 화면. 오른쪽 HUD에 층·HP·점수·인벤토리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ARCHITECTURE ·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모듈 구성과 한 턴의 흐름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03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10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한 턴 처리 순서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139696"/>
            <a:ext cx="521208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13969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키 입력 · 마우스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52374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724912"/>
            <a:ext cx="5212080" cy="402336"/>
          </a:xfrm>
          <a:prstGeom prst="roundRect">
            <a:avLst>
              <a:gd name="adj" fmla="val 18000"/>
            </a:avLst>
          </a:prstGeom>
          <a:solidFill>
            <a:srgbClr val="F3E6DB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272491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A3342"/>
                </a:solidFill>
                <a:latin typeface="Noto Sans Mono CJK KR"/>
                <a:ea typeface="Noto Sans Mono CJK KR"/>
                <a:cs typeface="Noto Sans Mono CJK KR"/>
              </a:rPr>
              <a:t>turn_update()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108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310128"/>
            <a:ext cx="521208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31012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플레이어 행동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69417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895344"/>
            <a:ext cx="521208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9534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적 AI 순회 (거리 12칸 게이팅)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2793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480560"/>
            <a:ext cx="521208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48056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점수·보스·생사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8646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065776"/>
            <a:ext cx="5212080" cy="402336"/>
          </a:xfrm>
          <a:prstGeom prst="roundRect">
            <a:avLst>
              <a:gd name="adj" fmla="val 18000"/>
            </a:avLst>
          </a:prstGeom>
          <a:solidFill>
            <a:srgbClr val="F3E6DB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506577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새 프레임 push → 렌더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810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모듈과 담당 기능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20840" y="2139696"/>
            <a:ext cx="4526280" cy="0"/>
          </a:xfrm>
          <a:prstGeom prst="bentConnector3">
            <a:avLst/>
          </a:prstGeom>
          <a:ln w="15240">
            <a:solidFill>
              <a:srgbClr val="1C2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20840" y="22311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A3342"/>
                </a:solidFill>
                <a:latin typeface="Noto Sans Mono CJK KR"/>
                <a:ea typeface="Noto Sans Mono CJK KR"/>
                <a:cs typeface="Noto Sans Mono CJK KR"/>
              </a:rPr>
              <a:t>main.py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22311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게임 루프 · 턴 진행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2311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97491E"/>
                </a:solidFill>
                <a:latin typeface="Noto Sans CJK KR"/>
                <a:ea typeface="Noto Sans CJK KR"/>
                <a:cs typeface="Noto Sans CJK KR"/>
              </a:rPr>
              <a:t>Turn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20840" y="2578608"/>
            <a:ext cx="452628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20840" y="26243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A3342"/>
                </a:solidFill>
                <a:latin typeface="Noto Sans Mono CJK KR"/>
                <a:ea typeface="Noto Sans Mono CJK KR"/>
                <a:cs typeface="Noto Sans Mono CJK KR"/>
              </a:rPr>
              <a:t>map.py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262432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던전 맵 생성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262432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97491E"/>
                </a:solidFill>
                <a:latin typeface="Noto Sans CJK KR"/>
                <a:ea typeface="Noto Sans CJK KR"/>
                <a:cs typeface="Noto Sans CJK KR"/>
              </a:rPr>
              <a:t>Dungeon Map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20840" y="2971800"/>
            <a:ext cx="452628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20840" y="30175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A3342"/>
                </a:solidFill>
                <a:latin typeface="Noto Sans Mono CJK KR"/>
                <a:ea typeface="Noto Sans Mono CJK KR"/>
                <a:cs typeface="Noto Sans Mono CJK KR"/>
              </a:rPr>
              <a:t>frame.py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30175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Undo 프레임 (deque)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3017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97491E"/>
                </a:solidFill>
                <a:latin typeface="Noto Sans CJK KR"/>
                <a:ea typeface="Noto Sans CJK KR"/>
                <a:cs typeface="Noto Sans CJK KR"/>
              </a:rPr>
              <a:t>Undo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20840" y="3364992"/>
            <a:ext cx="452628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20840" y="34107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A3342"/>
                </a:solidFill>
                <a:latin typeface="Noto Sans Mono CJK KR"/>
                <a:ea typeface="Noto Sans Mono CJK KR"/>
                <a:cs typeface="Noto Sans Mono CJK KR"/>
              </a:rPr>
              <a:t>player.py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4107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플레이어 · 인벤토리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3410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97491E"/>
                </a:solidFill>
                <a:latin typeface="Noto Sans CJK KR"/>
                <a:ea typeface="Noto Sans CJK KR"/>
                <a:cs typeface="Noto Sans CJK KR"/>
              </a:rPr>
              <a:t>Inventory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20840" y="3758184"/>
            <a:ext cx="452628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720840" y="38039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A3342"/>
                </a:solidFill>
                <a:latin typeface="Noto Sans Mono CJK KR"/>
                <a:ea typeface="Noto Sans Mono CJK KR"/>
                <a:cs typeface="Noto Sans Mono CJK KR"/>
              </a:rPr>
              <a:t>enemy.py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38039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적 AI (BFS · 시야)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38039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97491E"/>
                </a:solidFill>
                <a:latin typeface="Noto Sans CJK KR"/>
                <a:ea typeface="Noto Sans CJK KR"/>
                <a:cs typeface="Noto Sans CJK KR"/>
              </a:rPr>
              <a:t>Enemy AI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20840" y="4151376"/>
            <a:ext cx="452628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720840" y="419709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A3342"/>
                </a:solidFill>
                <a:latin typeface="Noto Sans Mono CJK KR"/>
                <a:ea typeface="Noto Sans Mono CJK KR"/>
                <a:cs typeface="Noto Sans Mono CJK KR"/>
              </a:rPr>
              <a:t>leaderboard.py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19709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기록 정렬 · JSON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41970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97491E"/>
                </a:solidFill>
                <a:latin typeface="Noto Sans CJK KR"/>
                <a:ea typeface="Noto Sans CJK KR"/>
                <a:cs typeface="Noto Sans CJK KR"/>
              </a:rPr>
              <a:t>Leaderboard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20840" y="4544568"/>
            <a:ext cx="452628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720840" y="45902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A3342"/>
                </a:solidFill>
                <a:latin typeface="Noto Sans Mono CJK KR"/>
                <a:ea typeface="Noto Sans Mono CJK KR"/>
                <a:cs typeface="Noto Sans Mono CJK KR"/>
              </a:rPr>
              <a:t>render.py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5902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렌더 · HUD · 점수식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5560" y="4590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—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20840" y="4937759"/>
            <a:ext cx="452628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720840" y="498347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A3342"/>
                </a:solidFill>
                <a:latin typeface="Noto Sans Mono CJK KR"/>
                <a:ea typeface="Noto Sans Mono CJK KR"/>
                <a:cs typeface="Noto Sans Mono CJK KR"/>
              </a:rPr>
              <a:t>balance.py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498347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밸런스 상수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95560" y="498347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6개 핵심 요소 한눈에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04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19072"/>
            <a:ext cx="10506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어떤 자료구조·알고리즘을 썼고, 핵심 대안은 무엇이며, 복잡도는 어떤지 한 장에 정리했습니다.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682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6829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68296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자료구조 / 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36829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핵심 대안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36829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복잡도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2761488"/>
            <a:ext cx="10497311" cy="0"/>
          </a:xfrm>
          <a:prstGeom prst="bentConnector3">
            <a:avLst/>
          </a:prstGeom>
          <a:ln w="17780">
            <a:solidFill>
              <a:srgbClr val="1C2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29077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0779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Dungeon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0779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2차원 리스트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90779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그래프(인접 리스트)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90779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접근 O(1)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410712"/>
            <a:ext cx="10497311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502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0215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Undo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50215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스택 · bounded deque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50215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큐 / 델타 저장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5021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push·pop O(1)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" y="4005072"/>
            <a:ext cx="10497311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" y="409651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096511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Turn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096511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순차 순회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096511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우선순위 큐(힙)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096511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O(N)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4599432"/>
            <a:ext cx="10497311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46908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69087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Item Inventory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69087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리스트 (슬롯)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69087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딕셔너리 / 트리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469087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접근 O(1)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1248" y="5193792"/>
            <a:ext cx="10497311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" y="52852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28523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Enemy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528523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BFS + Bresenham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528523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DFS / A*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28523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O(V+E)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1248" y="5788152"/>
            <a:ext cx="10497311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41248" y="58795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87959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Leaderboard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587959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복합 키 정렬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587959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점수 단일 / 힙 top-k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587959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O(n log 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요소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Dungeon 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05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987552"/>
            <a:ext cx="10506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4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2차원 리스트 · list[list[int]]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아이디어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84831"/>
            <a:ext cx="5897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맵 한 칸 = 정수 하나 (0 바닥, 1 벽, 2 문, 3 시작, 4 도착)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grid[y][x]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한 번으로 타일을 읽음 → 접근 O(1)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방을 무작위로 놓고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L자 복도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로 연결, 시작·도착이 이어지도록 보장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54096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실제 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897880" cy="2183587"/>
          </a:xfrm>
          <a:prstGeom prst="roundRect">
            <a:avLst>
              <a:gd name="adj" fmla="val 3500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474720"/>
            <a:ext cx="5486400" cy="21835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self.map = []               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list[list[int]]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def get_tile(self, x, y):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if self.in_bounds(x, y):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return self.map[y][x]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좌표로 바로 접근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def is_walkable(self, x, y):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return self.get_tile(x, y) in [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TILE_FLOOR, TILE_DOOR, TILE_START, TILE_END]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603443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8F99"/>
                </a:solidFill>
                <a:latin typeface="Noto Sans Mono CJK KR"/>
                <a:ea typeface="Noto Sans Mono CJK KR"/>
                <a:cs typeface="Noto Sans Mono CJK KR"/>
              </a:rPr>
              <a:t>map.py · Map.get_tile() / is_walkable()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대안과 비교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03720" y="2066543"/>
            <a:ext cx="4443984" cy="0"/>
          </a:xfrm>
          <a:prstGeom prst="bentConnector3">
            <a:avLst/>
          </a:prstGeom>
          <a:ln w="15240">
            <a:solidFill>
              <a:srgbClr val="1C2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03720" y="2194560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그래프 (인접 리스트)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423160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칸마다 이웃을 따로 저장. 상하좌우가 뻔한 격자엔 메모리만 더 듦.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03720" y="2752344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03720" y="2898648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1차원 배열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127248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grid[y*W+x]로도 되지만 2차원이 코드가 더 읽힘.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03720" y="3456432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03720" y="36393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복잡도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913632"/>
            <a:ext cx="4443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타일 접근 O(1)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공간 O(80 × 50) = 4,000칸</a:t>
            </a:r>
          </a:p>
        </p:txBody>
      </p:sp>
      <p:pic>
        <p:nvPicPr>
          <p:cNvPr id="27" name="Picture 26" descr="dungeon.png"/>
          <p:cNvPicPr>
            <a:picLocks noChangeAspect="1"/>
          </p:cNvPicPr>
          <p:nvPr/>
        </p:nvPicPr>
        <p:blipFill>
          <a:blip r:embed="rId2"/>
          <a:srcRect r="27000"/>
          <a:stretch>
            <a:fillRect/>
          </a:stretch>
        </p:blipFill>
        <p:spPr>
          <a:xfrm>
            <a:off x="6903720" y="4535424"/>
            <a:ext cx="1683050" cy="1453895"/>
          </a:xfrm>
          <a:prstGeom prst="rect">
            <a:avLst/>
          </a:prstGeom>
          <a:effectLst/>
        </p:spPr>
      </p:pic>
      <p:sp>
        <p:nvSpPr>
          <p:cNvPr id="28" name="Rectangle 27"/>
          <p:cNvSpPr/>
          <p:nvPr/>
        </p:nvSpPr>
        <p:spPr>
          <a:xfrm>
            <a:off x="6903720" y="4535424"/>
            <a:ext cx="1683050" cy="1453895"/>
          </a:xfrm>
          <a:prstGeom prst="rect">
            <a:avLst/>
          </a:prstGeom>
          <a:noFill/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6053327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방 + L자 복도로 생성된 1층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요소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Undo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06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987552"/>
            <a:ext cx="10506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4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스택(LIFO) · bounded deque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아이디어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84831"/>
            <a:ext cx="5897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매 턴 게임 상태를 프레임으로 쌓고, U를 누르면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맨 위를 꺼냄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(LIFO)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최대 30개만 유지. 넘치면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가장 오래된 프레임을 버림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30칸 상한 때문에 list 대신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deque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: 앞에서 빼는 popleft()가 O(1)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723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실제 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5897880" cy="2395728"/>
          </a:xfrm>
          <a:prstGeom prst="roundRect">
            <a:avLst>
              <a:gd name="adj" fmla="val 3500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493008"/>
            <a:ext cx="5486400" cy="2395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frame = deque()            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양 끝 모두 O(1)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def __init__(self, f):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Frame.frame.append(f)  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push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if len(Frame.frame) &gt; 30: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Frame.frame.popleft()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오래된 것 버림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def undo(cls):             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@classmethod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if len(cls.frame) &gt; 1: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cls.frame.pop()    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최근 상태로 복원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833872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8F99"/>
                </a:solidFill>
                <a:latin typeface="Noto Sans Mono CJK KR"/>
                <a:ea typeface="Noto Sans Mono CJK KR"/>
                <a:cs typeface="Noto Sans Mono CJK KR"/>
              </a:rPr>
              <a:t>frame.py · Frame.__init__() / undo()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1630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→ 다음 장: 프레임이 무거워서 한 메모리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대안과 비교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03720" y="2066543"/>
            <a:ext cx="4443984" cy="0"/>
          </a:xfrm>
          <a:prstGeom prst="bentConnector3">
            <a:avLst/>
          </a:prstGeom>
          <a:ln w="15240">
            <a:solidFill>
              <a:srgbClr val="1C2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03720" y="2194560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큐 (FIFO)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423160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오래된 것부터 빠져나가서 되돌리는 순서가 거꾸로 됨.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03720" y="2752344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03720" y="2898648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list로 스택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27248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되지만 30개 넘쳐 앞을 버릴 때 pop(0)이 O(n)이라 deque가 유리.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03720" y="3456432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903720" y="36393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복잡도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913632"/>
            <a:ext cx="4443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push · pop · 상한 제거 모두 O(1)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메모리 O(프레임 수), 최대 30개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DESIGN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Undo 최적화 : 안 바뀌는 건 공유한다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07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문제 → 개선 → 대가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5897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95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25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문제</a:t>
            </a:r>
            <a:r>
              <a:rPr sz="125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: deepcopy 한 번에 프레임 속 80×50 = 4,000칸 맵까지 통째로 복사. 맵은 한 층 동안 안 바뀌는데도 매 턴 복사함.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95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25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개선</a:t>
            </a:r>
            <a:r>
              <a:rPr sz="125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: 맵은 프레임끼리 한 객체로 공유하고 deepcopy에서 제외. 매 턴 바뀌는 player·enemies·items만 깊은 복사.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95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25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대가</a:t>
            </a:r>
            <a:r>
              <a:rPr sz="125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: 층이 바뀌면 공유 맵이 새 층으로 변형됨. 그 턴엔 reset_history()로 Undo 스택을 새 층 프레임 하나만 남김.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537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실제 코드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809744"/>
            <a:ext cx="5897880" cy="1122883"/>
          </a:xfrm>
          <a:prstGeom prst="roundRect">
            <a:avLst>
              <a:gd name="adj" fmla="val 3500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956048"/>
            <a:ext cx="5486400" cy="1122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shared_map = frame["map"]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new_frame = copy.deepcopy(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{k: v for k, v in frame.items() if k != "map"})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new_frame["map"] = shared_map 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맵은 복사 않고 공유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6024067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8F99"/>
                </a:solidFill>
                <a:latin typeface="Noto Sans Mono CJK KR"/>
                <a:ea typeface="Noto Sans Mono CJK KR"/>
                <a:cs typeface="Noto Sans Mono CJK KR"/>
              </a:rPr>
              <a:t>main.py · turn_update()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프레임당 DEEPCOPY 비용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2121408"/>
            <a:ext cx="43434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95160" y="2121408"/>
            <a:ext cx="4343400" cy="365760"/>
          </a:xfrm>
          <a:prstGeom prst="roundRect">
            <a:avLst>
              <a:gd name="adj" fmla="val 5000"/>
            </a:avLst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2304288"/>
            <a:ext cx="4343400" cy="182880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12140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15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59689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프레임 전체 deepcopy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8986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7491E"/>
                </a:solidFill>
                <a:latin typeface="Noto Sans CJK KR"/>
                <a:ea typeface="Noto Sans CJK KR"/>
                <a:cs typeface="Noto Sans CJK KR"/>
              </a:rPr>
              <a:t>  맵 4,000칸을 매 턴 복사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32004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 player · enemies ·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5844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3931920"/>
            <a:ext cx="43434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5160" y="3931920"/>
            <a:ext cx="4343400" cy="365760"/>
          </a:xfrm>
          <a:prstGeom prst="roundRect">
            <a:avLst>
              <a:gd name="adj" fmla="val 5000"/>
            </a:avLst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60" y="4114800"/>
            <a:ext cx="4343400" cy="182880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9319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15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44074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7491E"/>
                </a:solidFill>
                <a:latin typeface="Noto Sans CJK KR"/>
                <a:ea typeface="Noto Sans CJK KR"/>
                <a:cs typeface="Noto Sans CJK KR"/>
              </a:rPr>
              <a:t>맵 = 한 객체 공유 (복사 안 함)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4709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player · enemies · items만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50109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 깊은 복사 → 비용 크게 줄임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5559552"/>
            <a:ext cx="4343400" cy="749808"/>
          </a:xfrm>
          <a:prstGeom prst="roundRect">
            <a:avLst>
              <a:gd name="adj" fmla="val 8000"/>
            </a:avLst>
          </a:prstGeom>
          <a:solidFill>
            <a:srgbClr val="F3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95160" y="5559552"/>
            <a:ext cx="45720" cy="749808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2904" y="566928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491E"/>
                </a:solidFill>
                <a:latin typeface="Noto Sans CJK KR"/>
                <a:ea typeface="Noto Sans CJK KR"/>
                <a:cs typeface="Noto Sans CJK KR"/>
              </a:rPr>
              <a:t>full-state vs delta의 실전 trade-off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안 바뀌는 부분만 공유로 빼고, 공유 객체의 수명은 직접 관리.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요소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Turn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08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987552"/>
            <a:ext cx="10506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4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순차 순회 · 입력 구동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아이디어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84831"/>
            <a:ext cx="5897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한 턴 = 플레이어가 한 번 움직이고,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적 리스트를 순회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하며 차례로 행동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지금은 모두 같은 속도(빠른 적만 2회)라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for 한 번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이면 충분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성능: 플레이어와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맨해튼 거리 12칸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안쪽 적만 update (보스는 예외)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1821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실제 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456432"/>
            <a:ext cx="5897880" cy="1759305"/>
          </a:xfrm>
          <a:prstGeom prst="roundRect">
            <a:avLst>
              <a:gd name="adj" fmla="val 3500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602736"/>
            <a:ext cx="5486400" cy="1759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radius = balance.AI_ACTIVE_RADIUS 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12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for enemy in enemies: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if not enemy.is_alive():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continue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if isinstance(enemy, BossEnemy) or \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abs(enemy.x-player.x)+abs(enemy.y-player.y) &lt;= radius: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enemy.update(player, map, enemies)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07177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8F99"/>
                </a:solidFill>
                <a:latin typeface="Noto Sans Mono CJK KR"/>
                <a:ea typeface="Noto Sans Mono CJK KR"/>
                <a:cs typeface="Noto Sans Mono CJK KR"/>
              </a:rPr>
              <a:t>main.py · turn_update()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1630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지금 구조를 솔직하게 설명. 속도가 다양해지면 힙으로 확장 가능.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대안과 비교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03720" y="2066543"/>
            <a:ext cx="4443984" cy="0"/>
          </a:xfrm>
          <a:prstGeom prst="bentConnector3">
            <a:avLst/>
          </a:prstGeom>
          <a:ln w="15240">
            <a:solidFill>
              <a:srgbClr val="1C2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03720" y="2194560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단순 큐 (FIFO)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423160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같은 속도면 리스트 순회와 사실상 같음. 굳이 큐를 둘 이유가 없음.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03720" y="2752344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03720" y="2898648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우선순위 큐 (힙)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27248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속도가 제각각이면 '다음 차례'를 힙으로 O(log N)에 뽑게 확장.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03720" y="3456432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903720" y="36393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복잡도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913632"/>
            <a:ext cx="4443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적 N마리 순회 O(N)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힙 스케줄링 땐 추출 O(log 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요소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Item Inventory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09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987552"/>
            <a:ext cx="10506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4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리스트 · 슬롯 10칸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아이디어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84831"/>
            <a:ext cx="5897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인벤토리는 그냥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리스트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. 최대 10칸 (balance.PLAYER_INVENTORY)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숫자키 1~0이 그대로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슬롯 인덱스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→ use_item(index)로 바로 꺼냄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적을 잡으면 일정 확률로 아이템이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append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(포션·무기)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54096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실제 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897880" cy="1971446"/>
          </a:xfrm>
          <a:prstGeom prst="roundRect">
            <a:avLst>
              <a:gd name="adj" fmla="val 3500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474720"/>
            <a:ext cx="5486400" cy="19714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self.inventory = []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self.inventory_size = balance.PLAYER_INVENTORY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def use_item(self, item_index):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if 0 &lt;= item_index &lt; len(self.inventory):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item = self.inventory[item_index]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슬롯=인덱스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if item.type == 'potion':  ...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elif item.type == 'weapon':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91302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8F99"/>
                </a:solidFill>
                <a:latin typeface="Noto Sans Mono CJK KR"/>
                <a:ea typeface="Noto Sans Mono CJK KR"/>
                <a:cs typeface="Noto Sans Mono CJK KR"/>
              </a:rPr>
              <a:t>player.py · use_item()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대안과 비교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03720" y="2066543"/>
            <a:ext cx="4443984" cy="0"/>
          </a:xfrm>
          <a:prstGeom prst="bentConnector3">
            <a:avLst/>
          </a:prstGeom>
          <a:ln w="15240">
            <a:solidFill>
              <a:srgbClr val="1C2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03720" y="2194560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딕셔너리 (이름→개수)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423160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이름으로 자주 찾으면 O(1)로 유리. 우린 번호로 꺼내서 불필요.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03720" y="2752344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03720" y="2898648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트리 (BST)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127248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정렬·범위 검색엔 O(log n)로 강함. 10칸짜리엔 과함.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03720" y="3456432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03720" y="36393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복잡도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913632"/>
            <a:ext cx="4443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슬롯 접근 O(1)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검색은 O(n)이지만 n ≤ 10</a:t>
            </a:r>
          </a:p>
        </p:txBody>
      </p:sp>
      <p:pic>
        <p:nvPicPr>
          <p:cNvPr id="27" name="Picture 26" descr="inventor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03720" y="4535424"/>
            <a:ext cx="2297764" cy="1453895"/>
          </a:xfrm>
          <a:prstGeom prst="rect">
            <a:avLst/>
          </a:prstGeom>
          <a:effectLst/>
        </p:spPr>
      </p:pic>
      <p:sp>
        <p:nvSpPr>
          <p:cNvPr id="28" name="Rectangle 27"/>
          <p:cNvSpPr/>
          <p:nvPr/>
        </p:nvSpPr>
        <p:spPr>
          <a:xfrm>
            <a:off x="6903720" y="4535424"/>
            <a:ext cx="2297764" cy="1453895"/>
          </a:xfrm>
          <a:prstGeom prst="rect">
            <a:avLst/>
          </a:prstGeom>
          <a:noFill/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6053327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HUD 인벤토리 (장비·소비 아이템)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요소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Enemy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10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987552"/>
            <a:ext cx="10506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4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BFS 추적 · Bresenham 시야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아이디어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84831"/>
            <a:ext cx="5897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추적: 플레이어까지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BFS로 최단 경로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를 찾아 그 첫 칸으로 이동 (deque 큐)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칸 이동 비용이 전부 1(무가중치)이라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BFS면 최단이 보장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됨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시야: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Bresenham 직선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으로 둘 사이 칸을 훑어 벽에 막히는지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1821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실제 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456432"/>
            <a:ext cx="5897880" cy="1971446"/>
          </a:xfrm>
          <a:prstGeom prst="roundRect">
            <a:avLst>
              <a:gd name="adj" fmla="val 3500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602736"/>
            <a:ext cx="5486400" cy="19714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q = deque([start]); parent = {start: None}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while q: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cx, cy = q.popleft()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if (cx, cy) == target: break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for dx, dy in ((0,-1),(0,1),(-1,0),(1,0)):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nx, ny = cx+dx, cy+dy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if (nx,ny) in parent or blocked: continue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parent[(nx,ny)] = (cx,cy); q.append((nx,ny))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519318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8F99"/>
                </a:solidFill>
                <a:latin typeface="Noto Sans Mono CJK KR"/>
                <a:ea typeface="Noto Sans Mono CJK KR"/>
                <a:cs typeface="Noto Sans Mono CJK KR"/>
              </a:rPr>
              <a:t>enemy.py · _bfs_next_step()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대안과 비교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03720" y="2066543"/>
            <a:ext cx="4443984" cy="0"/>
          </a:xfrm>
          <a:prstGeom prst="bentConnector3">
            <a:avLst/>
          </a:prstGeom>
          <a:ln w="15240">
            <a:solidFill>
              <a:srgbClr val="1C2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03720" y="2194560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DFS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423160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경로는 찾지만 최단이 아님. 적이 빙 둘러 감.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03720" y="2752344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03720" y="2898648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A*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127248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휴리스틱으로 탐색을 줄임. 맵·적이 커질 때 카드, 지금 규모엔 과함.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03720" y="3456432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03720" y="3602736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Dijkstra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831335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가중치가 다를 때 필요. 전부 1이면 BFS와 같아짐.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3720" y="4160520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03720" y="43434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복잡도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617720"/>
            <a:ext cx="4443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BFS O(V+E) ≈ O(칸 수)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탐색은 시야 반경 안으로 제한</a:t>
            </a:r>
          </a:p>
        </p:txBody>
      </p:sp>
      <p:pic>
        <p:nvPicPr>
          <p:cNvPr id="30" name="Picture 29" descr="enemy_path.png"/>
          <p:cNvPicPr>
            <a:picLocks noChangeAspect="1"/>
          </p:cNvPicPr>
          <p:nvPr/>
        </p:nvPicPr>
        <p:blipFill>
          <a:blip r:embed="rId2"/>
          <a:srcRect r="30000"/>
          <a:stretch>
            <a:fillRect/>
          </a:stretch>
        </p:blipFill>
        <p:spPr>
          <a:xfrm>
            <a:off x="6903720" y="5239512"/>
            <a:ext cx="831708" cy="749807"/>
          </a:xfrm>
          <a:prstGeom prst="rect">
            <a:avLst/>
          </a:prstGeom>
          <a:effectLst/>
        </p:spPr>
      </p:pic>
      <p:sp>
        <p:nvSpPr>
          <p:cNvPr id="31" name="Rectangle 30"/>
          <p:cNvSpPr/>
          <p:nvPr/>
        </p:nvSpPr>
        <p:spPr>
          <a:xfrm>
            <a:off x="6903720" y="5239512"/>
            <a:ext cx="831708" cy="749807"/>
          </a:xfrm>
          <a:prstGeom prst="rect">
            <a:avLst/>
          </a:prstGeom>
          <a:noFill/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6053327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BFS가 계산한 추적 경로 (녹색)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요소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Leaderboard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11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987552"/>
            <a:ext cx="10506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4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복합 키 정렬 · dict +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핵심 아이디어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84831"/>
            <a:ext cx="5897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기록은 이름→{점수, 클리어, 시간}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딕셔너리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, JSON으로 저장·로드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정렬 키를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(not 클리어, −점수, 시간) 튜플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로 만들어 sorted 한 번에 처리</a:t>
            </a:r>
          </a:p>
          <a:p>
            <a:pPr marL="246888" indent="-246888"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▪  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튜플은 앞에서부터 비교되니 </a:t>
            </a:r>
            <a:r>
              <a:rPr sz="1300" b="1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①클리어 ②점수 ③시간</a:t>
            </a:r>
            <a:r>
              <a:rPr sz="1300" b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 우선순위가 그대로 들어감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54096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실제 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897880" cy="1971446"/>
          </a:xfrm>
          <a:prstGeom prst="roundRect">
            <a:avLst>
              <a:gd name="adj" fmla="val 3500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474720"/>
            <a:ext cx="5486400" cy="19714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def _rank_key(rec):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</a:t>
            </a:r>
            <a:r>
              <a:rPr sz="1050" i="1">
                <a:solidFill>
                  <a:srgbClr val="828EA4"/>
                </a:solidFill>
                <a:latin typeface="Noto Sans Mono CJK KR"/>
                <a:ea typeface="Noto Sans Mono CJK KR"/>
                <a:cs typeface="Noto Sans Mono CJK KR"/>
              </a:rPr>
              <a:t># 클리어 우선 → 점수 높은 순 → 시간 빠른 순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return (not rec["cleared"],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    -rec["score"], rec["time"])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def get_leaderboard(self):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return sorted(self.scores.items(),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DDE3EC"/>
                </a:solidFill>
                <a:latin typeface="Noto Sans Mono CJK KR"/>
                <a:ea typeface="Noto Sans Mono CJK KR"/>
                <a:cs typeface="Noto Sans Mono CJK KR"/>
              </a:rPr>
              <a:t>                  key=lambda x: _rank_key(x[1]))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91302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A8F99"/>
                </a:solidFill>
                <a:latin typeface="Noto Sans Mono CJK KR"/>
                <a:ea typeface="Noto Sans Mono CJK KR"/>
                <a:cs typeface="Noto Sans Mono CJK KR"/>
              </a:rPr>
              <a:t>leaderboard.py · _rank_key() / get_leaderboard()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1630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점수 = max(0, killXP×100 + gold×500 − Undo×10 − 경과초×10)   (gold는 현재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7922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대안과 비교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03720" y="2066543"/>
            <a:ext cx="4443984" cy="0"/>
          </a:xfrm>
          <a:prstGeom prst="bentConnector3">
            <a:avLst/>
          </a:prstGeom>
          <a:ln w="15240">
            <a:solidFill>
              <a:srgbClr val="1C2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03720" y="2194560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점수만으로 정렬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423160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클리어·시간을 못 담음. 못 깬 고득점이 깬 사람 위로 올라옴.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03720" y="2752344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03720" y="2898648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힙 top-k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27248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상위 k명만 필요하면 O(n log k). 기록이 적어 실익은 작음.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03720" y="3456432"/>
            <a:ext cx="4443984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903720" y="36393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복잡도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913632"/>
            <a:ext cx="4443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전체 정렬 O(n log n)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추가·갱신은 dict O(1)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시간 · 공간 복잡도 종합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12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19072"/>
            <a:ext cx="10506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각 요소의 복잡도를 한 표로. 면접에서 '복잡도를 말할 수 있는가'에 대비했습니다.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6829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요소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68296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자료구조 / 알고리즘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36829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36829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공간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36829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8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비고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2761488"/>
            <a:ext cx="10497312" cy="0"/>
          </a:xfrm>
          <a:prstGeom prst="bentConnector3">
            <a:avLst/>
          </a:prstGeom>
          <a:ln w="17780">
            <a:solidFill>
              <a:srgbClr val="1C2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290779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Dungeon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90779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2차원 리스트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90779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접근 O(1)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90779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O(W×H)=4,000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90779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격자 직접 인덱싱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410712"/>
            <a:ext cx="10497312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50215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Undo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50215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스택 · deque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50215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push·pop O(1)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50215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O(프레임)≤30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50215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양 끝 O(1)이라 deque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" y="4005072"/>
            <a:ext cx="10497312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" y="4096511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09651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순차 순회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96511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096511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096511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힙 확장 시 O(log N)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4599432"/>
            <a:ext cx="10497312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469087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Inventory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469087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리스트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69087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O(1) / 검색 O(n)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6908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O(n)≤10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69087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슬롯 = 인덱스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1248" y="5193792"/>
            <a:ext cx="10497312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" y="528523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Enemy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528523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BFS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28523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O(V+E)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28523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O(V)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528523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시야 반경으로 제한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1248" y="5788152"/>
            <a:ext cx="10497312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41248" y="5879592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Leaderboard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" y="587959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복합 키 정렬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587959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O(n log 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87959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O(n)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587959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갱신 dict O(1)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INTERVIEW · 방어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어떻게 방어할 것인가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13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10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답변 5단계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212848"/>
            <a:ext cx="384048" cy="384048"/>
          </a:xfrm>
          <a:prstGeom prst="ellipse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128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21945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무엇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23113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쓴 자료구조·알고리즘을 한 문장으로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2816352"/>
            <a:ext cx="384048" cy="384048"/>
          </a:xfrm>
          <a:prstGeom prst="ellipse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163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279806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8346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그게 이 기능에 맞는 이유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3419856"/>
            <a:ext cx="384048" cy="384048"/>
          </a:xfrm>
          <a:prstGeom prst="ellipse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198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34015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어디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2888" y="34381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파일·함수로 코드 위치 짚기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4023360"/>
            <a:ext cx="384048" cy="384048"/>
          </a:xfrm>
          <a:prstGeom prst="ellipse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0233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0050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2888" y="40416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대안과 뭐가 다른지 (복잡도 포함)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" y="4626864"/>
            <a:ext cx="384048" cy="384048"/>
          </a:xfrm>
          <a:prstGeom prst="ellipse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6268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6085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한계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32888" y="46451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시간·공간 복잡도와 trade-off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1810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세 가지 원칙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2139696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2139696"/>
            <a:ext cx="1417320" cy="64008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31736" y="2267712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Run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2560320"/>
            <a:ext cx="1197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시작부터 끝까지 크래시 없이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2139696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0" y="2139696"/>
            <a:ext cx="1417320" cy="64008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0496" y="2267712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Defend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2560320"/>
            <a:ext cx="1197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고른 이유를 소리 내어 설명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21240" y="2139696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21240" y="2139696"/>
            <a:ext cx="1417320" cy="64008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2267712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Compare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9256" y="2560320"/>
            <a:ext cx="1197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대안과 trade-off를 비교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38328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모범 답안 예시 · UNDO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03720" y="3675887"/>
            <a:ext cx="4443984" cy="2487168"/>
          </a:xfrm>
          <a:prstGeom prst="roundRect">
            <a:avLst>
              <a:gd name="adj" fmla="val 4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03720" y="3675887"/>
            <a:ext cx="45720" cy="2487168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3858768"/>
            <a:ext cx="4023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“Undo엔 </a:t>
            </a:r>
            <a:r>
              <a:rPr sz="125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스택</a:t>
            </a: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을 썼습니다</a:t>
            </a:r>
            <a:r>
              <a:rPr sz="125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①</a:t>
            </a: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. 가장 최근 행동부터 되돌리니 LIFO고</a:t>
            </a:r>
            <a:r>
              <a:rPr sz="125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②</a:t>
            </a: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,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30칸 상한을 넘으면 앞에서 버려야 해서 list 대신 deque로 짰습니다</a:t>
            </a:r>
            <a:r>
              <a:rPr sz="125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③</a:t>
            </a: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큐였다면 오래된 것부터 나가 순서가 거꾸로 되고</a:t>
            </a:r>
            <a:r>
              <a:rPr sz="125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④</a:t>
            </a: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,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push·pop은 O(1), 메모리는 프레임 수에 비례합니다</a:t>
            </a:r>
            <a:r>
              <a:rPr sz="125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⑤</a:t>
            </a:r>
            <a:r>
              <a:rPr sz="12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2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DEMO · 제출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893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라이브 데모 &amp; 체크리스트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91056"/>
            <a:ext cx="10506456" cy="0"/>
          </a:xfrm>
          <a:prstGeom prst="bentConnector3">
            <a:avLst/>
          </a:prstGeom>
          <a:ln w="12700">
            <a:solidFill>
              <a:srgbClr val="CBCE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41248" y="1587398"/>
            <a:ext cx="1143000" cy="10972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1248" y="6455664"/>
            <a:ext cx="10506456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spc="4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</a:t>
            </a:r>
            <a:r>
              <a:rPr sz="900" b="0" i="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    ·    Dungeon Crawler RPG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14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10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데모 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5F2A"/>
                </a:solidFill>
                <a:latin typeface="Noto Sans Mono CJK KR"/>
                <a:ea typeface="Noto Sans Mono CJK KR"/>
                <a:cs typeface="Noto Sans Mono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1579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시작 화면에서 게임 진입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2500884"/>
            <a:ext cx="548640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25923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5F2A"/>
                </a:solidFill>
                <a:latin typeface="Noto Sans Mono CJK KR"/>
                <a:ea typeface="Noto Sans Mono CJK KR"/>
                <a:cs typeface="Noto Sans Mono CJK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59232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1층 탐험 · 근접 / 원거리 전투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2935224"/>
            <a:ext cx="548640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026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5F2A"/>
                </a:solidFill>
                <a:latin typeface="Noto Sans Mono CJK KR"/>
                <a:ea typeface="Noto Sans Mono CJK KR"/>
                <a:cs typeface="Noto Sans Mono CJK K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02666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U로 Undo 시연 (직전 상태로 복원)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3369564"/>
            <a:ext cx="548640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34610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5F2A"/>
                </a:solidFill>
                <a:latin typeface="Noto Sans Mono CJK KR"/>
                <a:ea typeface="Noto Sans Mono CJK KR"/>
                <a:cs typeface="Noto Sans Mono CJK K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346100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숫자키로 포션 · 무기 사용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803904"/>
            <a:ext cx="548640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8953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5F2A"/>
                </a:solidFill>
                <a:latin typeface="Noto Sans Mono CJK KR"/>
                <a:ea typeface="Noto Sans Mono CJK KR"/>
                <a:cs typeface="Noto Sans Mono CJK KR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89534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계단으로 다음 층 이동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4238244"/>
            <a:ext cx="548640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432968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5F2A"/>
                </a:solidFill>
                <a:latin typeface="Noto Sans Mono CJK KR"/>
                <a:ea typeface="Noto Sans Mono CJK KR"/>
                <a:cs typeface="Noto Sans Mono CJK KR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29683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5층 보스전 → 출구 도달로 클리어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" y="4672583"/>
            <a:ext cx="5486400" cy="0"/>
          </a:xfrm>
          <a:prstGeom prst="bentConnector3">
            <a:avLst/>
          </a:prstGeom>
          <a:ln w="9525">
            <a:solidFill>
              <a:srgbClr val="E7E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" y="476402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E5F2A"/>
                </a:solidFill>
                <a:latin typeface="Noto Sans Mono CJK KR"/>
                <a:ea typeface="Noto Sans Mono CJK KR"/>
                <a:cs typeface="Noto Sans Mono CJK KR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764023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이름 입력 → 리더보드 저장 · TOP10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1810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6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제출 전 체크리스트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2176272"/>
            <a:ext cx="237744" cy="237744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BE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0296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6912" y="215798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AI+X Studio 컴퓨터에서 구동 확인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3720" y="2679192"/>
            <a:ext cx="237744" cy="237744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BE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0296" y="26243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6912" y="266090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시작부터 게임오버까지 크래시 없음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3182112"/>
            <a:ext cx="237744" cy="237744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BE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0296" y="3127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96912" y="316382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6개 핵심 기능이 코드에 전부 있음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3720" y="3685031"/>
            <a:ext cx="237744" cy="237744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BE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0296" y="36301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6912" y="366674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각 기능의 자료구조·알고리즘 이름을 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4187951"/>
            <a:ext cx="237744" cy="237744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BE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0296" y="41330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96912" y="4169663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각 알고리즘을 대안과 비교함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4690871"/>
            <a:ext cx="237744" cy="237744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BE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0296" y="463600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96912" y="4672583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각각의 시간·공간 복잡도를 말함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3720" y="5193791"/>
            <a:ext cx="237744" cy="237744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BE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0296" y="513892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96912" y="5175503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PPT가 코드와 실제로 일치함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03720" y="5696711"/>
            <a:ext cx="237744" cy="237744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BE5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0296" y="564184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96912" y="5678423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3B424E"/>
                </a:solidFill>
                <a:latin typeface="Noto Sans CJK KR"/>
                <a:ea typeface="Noto Sans CJK KR"/>
                <a:cs typeface="Noto Sans CJK KR"/>
              </a:rPr>
              <a:t>구현된 파일·함수 위치를 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" cy="146304"/>
          </a:xfrm>
          <a:prstGeom prst="rect">
            <a:avLst/>
          </a:prstGeom>
          <a:solidFill>
            <a:srgbClr val="BE5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40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7600" b="1" i="0">
                <a:solidFill>
                  <a:srgbClr val="1C2B4A"/>
                </a:solidFill>
                <a:latin typeface="Noto Sans CJK KR"/>
                <a:ea typeface="Noto Sans CJK KR"/>
                <a:cs typeface="Noto Sans CJK KR"/>
              </a:rPr>
              <a:t>Q &amp; 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90007" y="4160520"/>
            <a:ext cx="2011680" cy="0"/>
          </a:xfrm>
          <a:prstGeom prst="bentConnector3">
            <a:avLst/>
          </a:prstGeom>
          <a:ln w="27940">
            <a:solidFill>
              <a:srgbClr val="BE5F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Run it.  </a:t>
            </a:r>
            <a:r>
              <a:rPr sz="1700" b="1" i="0">
                <a:solidFill>
                  <a:srgbClr val="BE5F2A"/>
                </a:solidFill>
                <a:latin typeface="Noto Sans CJK KR"/>
                <a:ea typeface="Noto Sans CJK KR"/>
                <a:cs typeface="Noto Sans CJK KR"/>
              </a:rPr>
              <a:t>Defend it.  </a:t>
            </a:r>
            <a:r>
              <a:rPr sz="1700" b="1" i="0">
                <a:solidFill>
                  <a:srgbClr val="2A3342"/>
                </a:solidFill>
                <a:latin typeface="Noto Sans CJK KR"/>
                <a:ea typeface="Noto Sans CJK KR"/>
                <a:cs typeface="Noto Sans CJK KR"/>
              </a:rPr>
              <a:t>Compare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1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게임이 무엇을 하는지보다, 왜 그렇게 만들었는지를 보여주겠습니다.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0" spc="60">
                <a:solidFill>
                  <a:srgbClr val="8A8F99"/>
                </a:solidFill>
                <a:latin typeface="Noto Sans CJK KR"/>
                <a:ea typeface="Noto Sans CJK KR"/>
                <a:cs typeface="Noto Sans CJK KR"/>
              </a:rPr>
              <a:t>AI2000 · 자료구조및알고리즘  ·  Dungeon Crawler RPG — DS&amp;A Team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