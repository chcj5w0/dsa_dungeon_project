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737360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ungeon.png"/>
          <p:cNvPicPr>
            <a:picLocks noChangeAspect="1"/>
          </p:cNvPicPr>
          <p:nvPr/>
        </p:nvPicPr>
        <p:blipFill>
          <a:blip r:embed="rId2"/>
          <a:srcRect r="20000"/>
          <a:stretch>
            <a:fillRect/>
          </a:stretch>
        </p:blipFill>
        <p:spPr>
          <a:xfrm>
            <a:off x="6537960" y="1428825"/>
            <a:ext cx="5074920" cy="4000349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6537960" y="1428825"/>
            <a:ext cx="5074920" cy="4000349"/>
          </a:xfrm>
          <a:prstGeom prst="rect">
            <a:avLst/>
          </a:prstGeom>
          <a:noFill/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56509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절차 생성 던전 — 1층 플레이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88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 spc="16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AI2000 · 자료구조및알고리즘 · 팀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Dungeon</a:t>
            </a:r>
          </a:p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Crawler RPG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" y="3703320"/>
            <a:ext cx="1828800" cy="0"/>
          </a:xfrm>
          <a:prstGeom prst="bentConnector3">
            <a:avLst/>
          </a:prstGeom>
          <a:ln w="27940">
            <a:solidFill>
              <a:srgbClr val="BE5F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3931920"/>
            <a:ext cx="5577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절차적으로 생성되는 5층 던전을 탐험하는 </a:t>
            </a:r>
            <a:r>
              <a:rPr sz="15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턴제 로그라이크</a:t>
            </a:r>
            <a:r>
              <a:rPr sz="15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6개 핵심 자료구조·알고리즘을 게임 메커닉으로 구현했습니다.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97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Run it.  </a:t>
            </a: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Defend it.  </a:t>
            </a: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Compare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OVERVIEW · 게임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무엇을 만들었나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한 문장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0312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절차적으로 생성되는 </a:t>
            </a: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5층 던전</a:t>
            </a:r>
            <a:r>
              <a:rPr sz="14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을 탐험하며 적을 처치하고, </a:t>
            </a: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보스를 잡아 탈출</a:t>
            </a:r>
            <a:r>
              <a:rPr sz="14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하는 입력 구동형 턴제 로그라이크.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063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게임 루프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383280"/>
            <a:ext cx="79552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383280"/>
            <a:ext cx="7955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탐험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6776" y="3383280"/>
            <a:ext cx="274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11095" y="3383280"/>
            <a:ext cx="79552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1095" y="3383280"/>
            <a:ext cx="7955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전투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3383280"/>
            <a:ext cx="274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80944" y="3383280"/>
            <a:ext cx="941832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3383280"/>
            <a:ext cx="9418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아이템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3383280"/>
            <a:ext cx="274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7096" y="3383280"/>
            <a:ext cx="1088136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3383280"/>
            <a:ext cx="108813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층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5231" y="3383280"/>
            <a:ext cx="274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59551" y="3383280"/>
            <a:ext cx="1380744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1" y="3383280"/>
            <a:ext cx="13807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보스(5층)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5" y="3383280"/>
            <a:ext cx="274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5" y="3383280"/>
            <a:ext cx="15270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14615" y="3383280"/>
            <a:ext cx="1527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결과·리더보드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4160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승리 /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462272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6000"/>
              </a:lnSpc>
              <a:spcAft>
                <a:spcPts val="700"/>
              </a:spcAft>
            </a:pPr>
            <a:r>
              <a:rPr sz="130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0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승리</a:t>
            </a:r>
            <a:r>
              <a:rPr sz="130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5층 보스를 처치하면 출구가 열리고, 출구 도달 시 클리어.</a:t>
            </a:r>
          </a:p>
          <a:p>
            <a:pPr marL="237744" indent="-237744">
              <a:lnSpc>
                <a:spcPct val="116000"/>
              </a:lnSpc>
              <a:spcAft>
                <a:spcPts val="700"/>
              </a:spcAft>
            </a:pPr>
            <a:r>
              <a:rPr sz="130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0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패배</a:t>
            </a:r>
            <a:r>
              <a:rPr sz="130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적 AI 턴 이후 HP가 0이면 사망. Undo로 되살아날 수 없게 차단.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509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조작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2531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WASD 이동  ·  좌클릭 근접공격  ·  U 되돌리기  ·  1~0 아이템  ·  R 재시작</a:t>
            </a:r>
          </a:p>
        </p:txBody>
      </p:sp>
      <p:pic>
        <p:nvPicPr>
          <p:cNvPr id="34" name="Picture 33" descr="overview.png"/>
          <p:cNvPicPr>
            <a:picLocks noChangeAspect="1"/>
          </p:cNvPicPr>
          <p:nvPr/>
        </p:nvPicPr>
        <p:blipFill>
          <a:blip r:embed="rId2"/>
          <a:srcRect r="500"/>
          <a:stretch>
            <a:fillRect/>
          </a:stretch>
        </p:blipFill>
        <p:spPr>
          <a:xfrm>
            <a:off x="6720840" y="2490410"/>
            <a:ext cx="4617720" cy="2928738"/>
          </a:xfrm>
          <a:prstGeom prst="rect">
            <a:avLst/>
          </a:prstGeom>
          <a:effectLst/>
        </p:spPr>
      </p:pic>
      <p:sp>
        <p:nvSpPr>
          <p:cNvPr id="35" name="Rectangle 34"/>
          <p:cNvSpPr/>
          <p:nvPr/>
        </p:nvSpPr>
        <p:spPr>
          <a:xfrm>
            <a:off x="6720840" y="2490410"/>
            <a:ext cx="4617720" cy="2928738"/>
          </a:xfrm>
          <a:prstGeom prst="rect">
            <a:avLst/>
          </a:prstGeom>
          <a:noFill/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760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플레이 화면 — 2층 던전과 우측 HUD(층·HP·점수·인벤토리)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ARCHITECTURE ·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모듈 구성과 한 턴의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한 턴의 처리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39696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2139696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입력 (키 / 클릭)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52374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2724912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3E6DB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724912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turn_update()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1089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310128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310128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플레이어 행동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69417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895344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3895344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적 AI 순회 (거리 게이팅)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27939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480560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4480560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점수·보스·상태 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86460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065776"/>
            <a:ext cx="5212080" cy="402336"/>
          </a:xfrm>
          <a:prstGeom prst="roundRect">
            <a:avLst>
              <a:gd name="adj" fmla="val 18000"/>
            </a:avLst>
          </a:prstGeom>
          <a:solidFill>
            <a:srgbClr val="F3E6DB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065776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Frame push → 렌더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모듈 ↔ 담당 핵심요소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20840" y="2139696"/>
            <a:ext cx="4526280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720840" y="22311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main.py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게임 루프 · 턴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2311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Turn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20840" y="2578608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720840" y="2624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map.py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262432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던전 맵 생성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5560" y="2624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Dungeon Map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20840" y="2971800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720840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frame.py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3017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Undo 스택 프레임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Undo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20840" y="3364992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20840" y="34107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player.py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34107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플레이어 · 인벤토리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34107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Inventory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20840" y="3758184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720840" y="3803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enemy.py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3803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적 AI (BFS·시야)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5560" y="38039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Enemy AI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20840" y="4151376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20840" y="419709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leaderboard.py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41970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점수 정렬 · JSON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5560" y="419709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Leaderboard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20840" y="4544568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720840" y="4590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render.py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45902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렌더 · HUD · 점수식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56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—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20840" y="4937759"/>
            <a:ext cx="452628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720840" y="498347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balance.py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32520" y="498347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밸런스 상수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95560" y="498347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6개 핵심 요소 한눈에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04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1907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각 기능마다 자료구조/알고리즘 — 선택 이유 — 대안 — 복잡도를 방어할 수 있게 정리했습니다.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7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95727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기능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395727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자료구조 / 알고리즘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395727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핵심 대안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395727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2788920"/>
            <a:ext cx="10497311" cy="0"/>
          </a:xfrm>
          <a:prstGeom prst="bentConnector3">
            <a:avLst/>
          </a:prstGeom>
          <a:ln w="1778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29352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3522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Dungeon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9352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2D 그리드 list[list[int]]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935224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그래프(인접 리스트)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935224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접근 O(1)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447288"/>
            <a:ext cx="10497311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5387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5387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Undo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53872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스택 (LIFO)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큐 / 델타 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53872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push·pop O(1)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4050791"/>
            <a:ext cx="10497311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414223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142231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Turn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142231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순차 순회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142231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우선순위 큐(힙)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142231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4654296"/>
            <a:ext cx="10497311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47457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74573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Item Inventory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745736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리스트 (슬롯)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745736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딕셔너리 / 트리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4745736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접근 O(1)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257800"/>
            <a:ext cx="10497311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349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3492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Enemy 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53492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BFS + Bresenham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53492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DFS / A*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53492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O(V+E)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41248" y="5861304"/>
            <a:ext cx="10497311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1248" y="59527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59527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Leaderboard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9000" y="595274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복합 키 정렬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5952744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점수 단일 / 힙 top-k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5952744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 log 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Dungeon Map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05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2D 그리드 · list[list[int]]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던전을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2D 정수 그리드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로 표현 — 정수 하나가 타일(바닥·벽·문·시작·도착).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좌표 (x, y)로 칸을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O(1)에 직접 접근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: grid[y][x]. 격자 구조와 자연스럽게 일치.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절차 생성 — 방을 배치한 뒤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L자 복도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로 잇고, 시작–도착 연결성을 보장.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칸 접근 O(1)   ·   공간 O(W×H) = 80 × 50 = 4,000칸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map.py · Map.get_tile / is_walkable / _generate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그래프 (인접 리스트)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상하좌우 4방향이 암묵적인 격자엔 과함 — 메모리만 더 쓰고 좌표→칸 접근도 더 느림.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03720" y="2971800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03720" y="311810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1D 리스트 + 인덱스 계산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351276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grid[y*W+x]로도 되지만 2D 리스트보다 코드 가독성이 떨어짐.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03720" y="3689604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 descr="dungeon.png"/>
          <p:cNvPicPr>
            <a:picLocks noChangeAspect="1"/>
          </p:cNvPicPr>
          <p:nvPr/>
        </p:nvPicPr>
        <p:blipFill>
          <a:blip r:embed="rId2"/>
          <a:srcRect r="20000"/>
          <a:stretch>
            <a:fillRect/>
          </a:stretch>
        </p:blipFill>
        <p:spPr>
          <a:xfrm>
            <a:off x="6903720" y="3977639"/>
            <a:ext cx="2552055" cy="2011680"/>
          </a:xfrm>
          <a:prstGeom prst="rect">
            <a:avLst/>
          </a:prstGeom>
          <a:effectLst/>
        </p:spPr>
      </p:pic>
      <p:sp>
        <p:nvSpPr>
          <p:cNvPr id="28" name="Rectangle 27"/>
          <p:cNvSpPr/>
          <p:nvPr/>
        </p:nvSpPr>
        <p:spPr>
          <a:xfrm>
            <a:off x="6903720" y="3977639"/>
            <a:ext cx="2552055" cy="2011680"/>
          </a:xfrm>
          <a:prstGeom prst="rect">
            <a:avLst/>
          </a:prstGeom>
          <a:noFill/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6053327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방 + L자 복도로 생성된 1층 그리드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Undo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06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스택 (LIFO) · 최대 30프레임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매 턴 게임 상태(프레임)를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스택에 push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, Undo는 맨 위를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pop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Undo는 본질적으로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LIFO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최근 행동부터 되돌리므로 스택과 정확히 일치.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full-state 저장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: 구현이 단순하고 어떤 변화든 정확히 복원(대신 프레임당 메모리↑).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push / pop O(1)   ·   메모리 O(히스토리 길이), 상한 30프레임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frame.py · Frame.__init__ / undo / reset_history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144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→ 다음 장: 메모리를 줄인 우리만의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큐 (FIFO)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가장 오래된 상태부터 빠져나가 행동을 잘못된 순서로 재생 — Undo엔 부적합.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784348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03720" y="293065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델타(변경분)만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163824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메모리는 작지만 역연산 로직이 복잡해져 버그가 나기 쉬움.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502152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DESIGN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Undo 최적화 — 안 바뀌는 건 공유한다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07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문제 → 개선 → 대가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39696"/>
            <a:ext cx="5806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문제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매 턴 deepcopy하면 프레임 속 80×50 =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4,000칸 맵까지 매번 복사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 한 층 안에서 맵은 불변인데 순수 낭비.</a:t>
            </a:r>
          </a:p>
          <a:p>
            <a:pPr marL="237744" indent="-237744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개선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맵은 프레임 간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한 객체를 공유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하고 deepcopy 대상에서 제외. 매 턴 바뀌는 player·enemies·items만 깊은 복사.</a:t>
            </a:r>
          </a:p>
          <a:p>
            <a:pPr marL="237744" indent="-237744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대가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층 전환 시 공유 맵이 제자리 변형(load_next_floor)되어 옛 프레임이 깨짐 → 그 턴엔 reset_history()로 Undo 스택을 새 층 프레임 1개로 리셋.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5532120"/>
            <a:ext cx="5806440" cy="841248"/>
          </a:xfrm>
          <a:prstGeom prst="roundRect">
            <a:avLst>
              <a:gd name="adj" fmla="val 8000"/>
            </a:avLst>
          </a:prstGeom>
          <a:solidFill>
            <a:srgbClr val="F3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5532120"/>
            <a:ext cx="45720" cy="841248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5650992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full-state vs delta의 실전 trade-off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불변부(맵)만 공유로 빼 비용을 줄이고, 그 대가로 공유 객체의 생명주기를 직접 관리.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프레임당 DEEPCOPY 비용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139696"/>
            <a:ext cx="434340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95160" y="2139696"/>
            <a:ext cx="4343400" cy="365760"/>
          </a:xfrm>
          <a:prstGeom prst="roundRect">
            <a:avLst>
              <a:gd name="adj" fmla="val 5000"/>
            </a:avLst>
          </a:prstGeom>
          <a:solidFill>
            <a:srgbClr val="8A8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322576"/>
            <a:ext cx="4343400" cy="182880"/>
          </a:xfrm>
          <a:prstGeom prst="rect">
            <a:avLst/>
          </a:prstGeom>
          <a:solidFill>
            <a:srgbClr val="8A8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21396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spc="15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BEFORE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1518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프레임 전체 deepcopy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92607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  └ 맵 4,000칸 매 턴 복사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323697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 └ player · enemies · 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6301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3977639"/>
            <a:ext cx="434340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95160" y="3977639"/>
            <a:ext cx="4343400" cy="365760"/>
          </a:xfrm>
          <a:prstGeom prst="roundRect">
            <a:avLst>
              <a:gd name="adj" fmla="val 5000"/>
            </a:avLst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4160520"/>
            <a:ext cx="4343400" cy="182880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3977639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spc="15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1192" y="44531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맵 = 1개 객체 공유 (복사 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4764023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player · enemies · items만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507491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 깊은 복사 → 비용 대폭↓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5559552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코드: </a:t>
            </a:r>
            <a:r>
              <a:rPr sz="110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main.py · turn_update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Turn Management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08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순차 순회 · 입력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한 턴 =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플레이어 행동 → 모든 적 행동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(리스트 순회). 입력이 있을 때만 진행.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모든 적이 턴당 1회(빠른 적만 2회)라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단순 순회로 충분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— 별도 큐가 불필요.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성능 — 플레이어와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맨해튼 거리 12 이내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적만 update(거리 게이팅), 보스는 예외.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적 N마리 순회 O(N)   ·   (힙 스케줄링 시 다음 행동자 추출 O(log N))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main.py · turn_update   ·   enemy.py · FastEnemy.update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144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과장 없이 — 현재는 순회로 충분하고, 속도 다양화 시 힙으로 확장한다고 답변.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단순 큐 (FIFO)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모두 같은 속도면 리스트 순회로 충분 — 큐를 명시적으로 둘 이유가 없음.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784348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03720" y="293065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우선순위 큐 (힙)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163824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속도가 다양해지면 '다음 행동자'를 O(log N)에 뽑는 구조로 확장 가능.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502152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Item Inventory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09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리스트 · 슬롯 10칸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인벤토리를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리스트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로 관리, 최대 10칸(balance.PLAYER_INVENTORY).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숫자키 1~0이 곧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슬롯 인덱스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→ 리스트의 O(1) 인덱스 접근과 정확히 일치.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적 처치 드롭으로 append, use_item(index)로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포션 회복 / 무기 장착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인덱스 접근·사용 O(1)   ·   선형 검색 O(n)이나 n ≤ 10이라 무의미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player.py · inventory / use_item / attack   ·   item.py · Weapon / Potion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딕셔너리 (이름→개수)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이름 기반 조회가 잦으면 O(1)로 유리 — 우리는 슬롯 번호로 꺼냄.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03720" y="2784348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03720" y="293065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트리 (BST)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163824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정렬 유지·범위 검색에 O(log n)로 강함 — 10칸짜리 인벤토리엔 과함.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03720" y="3502152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 descr="inventory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03720" y="3977639"/>
            <a:ext cx="3179298" cy="2011680"/>
          </a:xfrm>
          <a:prstGeom prst="rect">
            <a:avLst/>
          </a:prstGeom>
          <a:effectLst/>
        </p:spPr>
      </p:pic>
      <p:sp>
        <p:nvSpPr>
          <p:cNvPr id="28" name="Rectangle 27"/>
          <p:cNvSpPr/>
          <p:nvPr/>
        </p:nvSpPr>
        <p:spPr>
          <a:xfrm>
            <a:off x="6903720" y="3977639"/>
            <a:ext cx="3179298" cy="2011680"/>
          </a:xfrm>
          <a:prstGeom prst="rect">
            <a:avLst/>
          </a:prstGeom>
          <a:noFill/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6053327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HUD 인벤토리 — 슬롯에 장비/소비 아이템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Enemy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10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BFS 추적 · Bresenham 시야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추적은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BFS(deque)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로 최단 경로의 다음 한 칸 계산. 시야는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Bresenham 직선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으로 벽 가림 판정.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격자의 간선 가중치가 전부 1(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무가중치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) → BFS가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최단을 보장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하면서 가장 단순.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적 4종(Melee·Ranged·Fast) +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보스(2×2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, 시야 무관 추적).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BFS O(V + E) ≈ O(칸 수)   ·   탐색은 시야 반경 안으로 제한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enemy.py · _bfs_next_step / _bresenham / can_see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DFS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길은 찾지만 최단을 보장하지 못해 빙 둘러 가는 비합리적 추적.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03720" y="2784348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03720" y="293065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A*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163824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휴리스틱으로 탐색 노드↓ — 대형 맵 최적화 카드, 우리 규모엔 복잡도만↑.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03720" y="3502152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03720" y="3648456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Dijkstra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881628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간선 가중치가 다를 때 필요 — 전부 1이라 BFS로 퇴화.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03720" y="4219956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enemy_path.png"/>
          <p:cNvPicPr>
            <a:picLocks noChangeAspect="1"/>
          </p:cNvPicPr>
          <p:nvPr/>
        </p:nvPicPr>
        <p:blipFill>
          <a:blip r:embed="rId2"/>
          <a:srcRect r="30000"/>
          <a:stretch>
            <a:fillRect/>
          </a:stretch>
        </p:blipFill>
        <p:spPr>
          <a:xfrm>
            <a:off x="6903720" y="4411980"/>
            <a:ext cx="1749632" cy="1577339"/>
          </a:xfrm>
          <a:prstGeom prst="rect">
            <a:avLst/>
          </a:prstGeom>
          <a:effectLst/>
        </p:spPr>
      </p:pic>
      <p:sp>
        <p:nvSpPr>
          <p:cNvPr id="31" name="Rectangle 30"/>
          <p:cNvSpPr/>
          <p:nvPr/>
        </p:nvSpPr>
        <p:spPr>
          <a:xfrm>
            <a:off x="6903720" y="4411980"/>
            <a:ext cx="1749632" cy="1577339"/>
          </a:xfrm>
          <a:prstGeom prst="rect">
            <a:avLst/>
          </a:prstGeom>
          <a:noFill/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6053327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BFS가 계산한 추적 경로 (녹색)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핵심 요소 ·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Leaderboard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11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98755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14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복합 키 정렬 · dict +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왜 이 자료구조인가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39696"/>
            <a:ext cx="5623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이름→최고기록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dict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{score, cleared, time}, JSON으로 영속화.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복합 키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 (not cleared, −score, time)로 한 번에 정렬: ①클리어 ②점수↓ ③시간↑.</a:t>
            </a:r>
          </a:p>
          <a:p>
            <a:pPr marL="237744" indent="-237744">
              <a:lnSpc>
                <a:spcPct val="118000"/>
              </a:lnSpc>
              <a:spcAft>
                <a:spcPts val="900"/>
              </a:spcAft>
            </a:pPr>
            <a:r>
              <a:rPr sz="1350" b="1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—   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순위 기준이 여럿이라 단일 값으론 불가 — </a:t>
            </a:r>
            <a:r>
              <a:rPr sz="1350" b="1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튜플은 앞 요소부터 비교</a:t>
            </a:r>
            <a:r>
              <a:rPr sz="1350" b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돼 우선순위를 그대로 인코딩.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5623560" cy="950976"/>
          </a:xfrm>
          <a:prstGeom prst="roundRect">
            <a:avLst>
              <a:gd name="adj" fmla="val 6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5074920"/>
            <a:ext cx="45720" cy="950976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2212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복잡도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207507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전체 정렬 O(n log n)   ·   추가 / 갱신은 dict O(1)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6098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 spc="120">
                <a:solidFill>
                  <a:srgbClr val="97491E"/>
                </a:solidFill>
                <a:latin typeface="Noto Sans CJK KR"/>
                <a:ea typeface="Noto Sans CJK KR"/>
                <a:cs typeface="Noto Sans CJK KR"/>
              </a:rPr>
              <a:t>코드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56007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A3342"/>
                </a:solidFill>
                <a:latin typeface="Noto Sans Mono CJK KR"/>
                <a:ea typeface="Noto Sans Mono CJK KR"/>
                <a:cs typeface="Noto Sans Mono CJK KR"/>
              </a:rPr>
              <a:t>leaderboard.py · _rank_key / get_leaderboard / add_score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144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점수 = max(0, killXP×100 + gold×500 − Undo×10 − 경과초×10)   (gold는 현재 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대안 비교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2084831"/>
            <a:ext cx="4443984" cy="0"/>
          </a:xfrm>
          <a:prstGeom prst="bentConnector3">
            <a:avLst/>
          </a:prstGeom>
          <a:ln w="1524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03720" y="2212848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점수 단일 정렬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446020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클리어·시간을 반영 못 함 — 못 깬 고득점이 깬 사람 위로 와 직관에 어긋남.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784348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03720" y="293065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힙 top-k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163824"/>
            <a:ext cx="4443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상위 k만 필요하면 O(n log k) — 기록 수가 적어 실익이 미미.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502152"/>
            <a:ext cx="444398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시간·공간 복잡도 종합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12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19072"/>
            <a:ext cx="10506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각 요소의 복잡도를 한 표로 — 면접에서 '복잡도를 말할 수 있는가'에 대비.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7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395727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자료구조 / 알고리즘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395727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395727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공간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395727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8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비고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2788920"/>
            <a:ext cx="10497312" cy="0"/>
          </a:xfrm>
          <a:prstGeom prst="bentConnector3">
            <a:avLst/>
          </a:prstGeom>
          <a:ln w="17780">
            <a:solidFill>
              <a:srgbClr val="1C2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293522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Dungeon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93522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2D 그리드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293522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접근 O(1)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93522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O(W×H)=4,000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93522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격자 직접 인덱싱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447288"/>
            <a:ext cx="10497312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5387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Undo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53872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스택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5387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push·pop O(1)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5387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O(history)≤30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5387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맵 공유로 비용↓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4050791"/>
            <a:ext cx="10497312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4142231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Turn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1422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순차 순회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142231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142231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4142231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힙 확장 시 O(log N)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4654296"/>
            <a:ext cx="10497312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4745736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Inventory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474573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리스트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74573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O(1) / 검색 O(n)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7457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O(n)≤10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474573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슬롯 = 인덱스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257800"/>
            <a:ext cx="10497312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34924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Enemy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534924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BFS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3492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O(V+E)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0" y="5349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O(V)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53492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시야 반경으로 제한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41248" y="5861304"/>
            <a:ext cx="10497312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1248" y="595274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Leaderboard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0360" y="595274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복합 키 정렬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59527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 log 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89520" y="59527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O(n)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59527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갱신 dict O(1)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INTERVIEW · 방어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어떻게 방어할 것인가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13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답변 5단계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194560"/>
            <a:ext cx="384048" cy="384048"/>
          </a:xfrm>
          <a:prstGeom prst="ellipse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1945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2176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무엇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22128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자료구조 / 알고리즘을 한 문장으로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2" y="2688336"/>
            <a:ext cx="91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41248" y="2798064"/>
            <a:ext cx="384048" cy="384048"/>
          </a:xfrm>
          <a:prstGeom prst="ellipse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7980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27797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2816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그것이 이 기능에 맞는 이유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33272" y="3291840"/>
            <a:ext cx="91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3401568"/>
            <a:ext cx="384048" cy="384048"/>
          </a:xfrm>
          <a:prstGeom prst="ellipse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015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33832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어디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34198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파일·함수로 코드 위치를 짚기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33272" y="3895344"/>
            <a:ext cx="91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1248" y="4005072"/>
            <a:ext cx="384048" cy="384048"/>
          </a:xfrm>
          <a:prstGeom prst="ellipse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0050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98678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비교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32888" y="4023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대안과의 차이 (복잡도 포함)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33272" y="4498848"/>
            <a:ext cx="914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248" y="4608576"/>
            <a:ext cx="384048" cy="384048"/>
          </a:xfrm>
          <a:prstGeom prst="ellipse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6085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08176" y="45902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한계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32888" y="46268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시간 / 공간 복잡도와 trade-off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세 가지 원칙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2139696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3720" y="2139696"/>
            <a:ext cx="1417320" cy="64008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31736" y="2267712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Run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31736" y="2560320"/>
            <a:ext cx="1197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시작→종료까지 크래시 없이 구동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2139696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12480" y="2139696"/>
            <a:ext cx="1417320" cy="64008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40496" y="2267712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Defend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2560320"/>
            <a:ext cx="1197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선택의 이유를 소리 내어 설명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2139696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C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21240" y="2139696"/>
            <a:ext cx="1417320" cy="64008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49256" y="2267712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Compare 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49256" y="2560320"/>
            <a:ext cx="1197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대안과 trade-off를 비교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3832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모범 답안 예시 — UNDO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03720" y="3675887"/>
            <a:ext cx="4443984" cy="2468880"/>
          </a:xfrm>
          <a:prstGeom prst="roundRect">
            <a:avLst>
              <a:gd name="adj" fmla="val 4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03720" y="3675887"/>
            <a:ext cx="45720" cy="2468880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78040" y="3877056"/>
            <a:ext cx="4023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“Undo엔 </a:t>
            </a: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스택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을 썼습니다 </a:t>
            </a:r>
            <a:r>
              <a:rPr sz="125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①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 Undo는 </a:t>
            </a:r>
            <a:r>
              <a:rPr sz="125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LIFO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라 스택의 접근 패턴과 일치합니다 </a:t>
            </a:r>
            <a:r>
              <a:rPr sz="125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②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 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frame.py의 Frame 클래스 — push는 __init__, pop은 undo입니다 </a:t>
            </a:r>
            <a:r>
              <a:rPr sz="125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③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 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큐였다면 FIFO라 행동을 잘못된 순서로 재생합니다 </a:t>
            </a:r>
            <a:r>
              <a:rPr sz="125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④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 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push·pop은 O(1), 메모리는 히스토리 길이에 비례합니다 </a:t>
            </a:r>
            <a:r>
              <a:rPr sz="125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⑤</a:t>
            </a:r>
            <a:r>
              <a:rPr sz="12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 spc="22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DEMO · 제출 점검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6893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라이브 데모 &amp; 체크리스트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91056"/>
            <a:ext cx="10506456" cy="0"/>
          </a:xfrm>
          <a:prstGeom prst="bentConnector3">
            <a:avLst/>
          </a:prstGeom>
          <a:ln w="12700">
            <a:solidFill>
              <a:srgbClr val="CBCE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41248" y="1587398"/>
            <a:ext cx="1143000" cy="10972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41248" y="6455664"/>
            <a:ext cx="10506456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spc="4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</a:t>
            </a:r>
            <a:r>
              <a:rPr sz="900" b="0" i="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    ·    Dungeon Crawler RPG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18904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14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데모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1579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시작 화면에서 게임 진입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2500884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25923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59232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1층 탐험 · 근접/원거리 전투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2935224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302666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02666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U 키로 Undo 시연 (직전 상태 복원)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3369564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34610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34610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숫자키로 포션·무기 사용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03904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9534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4168" y="389534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계단으로 다음 층 이동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4238244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432968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29683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5층 보스전 → 출구 도달로 클리어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4672583"/>
            <a:ext cx="5486400" cy="0"/>
          </a:xfrm>
          <a:prstGeom prst="bentConnector3">
            <a:avLst/>
          </a:prstGeom>
          <a:ln w="9525">
            <a:solidFill>
              <a:srgbClr val="E7E4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476402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BE5F2A"/>
                </a:solidFill>
                <a:latin typeface="Noto Sans Mono CJK KR"/>
                <a:ea typeface="Noto Sans Mono CJK KR"/>
                <a:cs typeface="Noto Sans Mono CJK KR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4764023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이름 입력 → 리더보드 저장·TOP10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1810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 spc="18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제출 전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2176272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0296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6912" y="21579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AI+X Studio 컴퓨터에서 구동 확인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03720" y="2679192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0296" y="26243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96912" y="26609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시작→게임오버까지 크래시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3720" y="3182112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0296" y="3127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6912" y="316382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6개 핵심 기능이 코드에 전부 존재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03720" y="3685031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0296" y="3630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96912" y="36667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각 기능의 DS / 알고리즘 이름을 댄다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4187951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0296" y="4133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96912" y="4169663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각 알고리즘을 대안과 비교한다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03720" y="4690871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0296" y="463600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96912" y="4672583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각각의 시간 / 공간 복잡도를 말한다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03720" y="5193791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0296" y="513892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6912" y="5175503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PPT가 코드와 실제로 일치한다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03720" y="5696711"/>
            <a:ext cx="237744" cy="237744"/>
          </a:xfrm>
          <a:prstGeom prst="roundRect">
            <a:avLst>
              <a:gd name="adj" fmla="val 20000"/>
            </a:avLst>
          </a:prstGeom>
          <a:noFill/>
          <a:ln w="17780">
            <a:solidFill>
              <a:srgbClr val="BE5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564184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96912" y="5678423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B424E"/>
                </a:solidFill>
                <a:latin typeface="Noto Sans CJK KR"/>
                <a:ea typeface="Noto Sans CJK KR"/>
                <a:cs typeface="Noto Sans CJK KR"/>
              </a:rPr>
              <a:t>구현된 파일·함수 위치를 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46304"/>
          </a:xfrm>
          <a:prstGeom prst="rect">
            <a:avLst/>
          </a:prstGeom>
          <a:solidFill>
            <a:srgbClr val="BE5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40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60604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0" b="1" i="0">
                <a:solidFill>
                  <a:srgbClr val="1C2B4A"/>
                </a:solidFill>
                <a:latin typeface="Noto Sans CJK KR"/>
                <a:ea typeface="Noto Sans CJK KR"/>
                <a:cs typeface="Noto Sans CJK KR"/>
              </a:rPr>
              <a:t>Q &amp; 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90007" y="4160520"/>
            <a:ext cx="2011680" cy="0"/>
          </a:xfrm>
          <a:prstGeom prst="bentConnector3">
            <a:avLst/>
          </a:prstGeom>
          <a:ln w="27940">
            <a:solidFill>
              <a:srgbClr val="BE5F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Run it.  </a:t>
            </a:r>
            <a:r>
              <a:rPr sz="1700" b="1" i="0">
                <a:solidFill>
                  <a:srgbClr val="BE5F2A"/>
                </a:solidFill>
                <a:latin typeface="Noto Sans CJK KR"/>
                <a:ea typeface="Noto Sans CJK KR"/>
                <a:cs typeface="Noto Sans CJK KR"/>
              </a:rPr>
              <a:t>Defend it.  </a:t>
            </a:r>
            <a:r>
              <a:rPr sz="1700" b="1" i="0">
                <a:solidFill>
                  <a:srgbClr val="2A3342"/>
                </a:solidFill>
                <a:latin typeface="Noto Sans CJK KR"/>
                <a:ea typeface="Noto Sans CJK KR"/>
                <a:cs typeface="Noto Sans CJK KR"/>
              </a:rPr>
              <a:t>Compare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74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1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게임이 무엇을 하는지가 아니라, 왜 그렇게 만들었는지를 보여줍니다.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 spc="60">
                <a:solidFill>
                  <a:srgbClr val="8A8F99"/>
                </a:solidFill>
                <a:latin typeface="Noto Sans CJK KR"/>
                <a:ea typeface="Noto Sans CJK KR"/>
                <a:cs typeface="Noto Sans CJK KR"/>
              </a:rPr>
              <a:t>AI2000 · 자료구조및알고리즘  ·  Dungeon Crawler RPG — DS&amp;A Team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